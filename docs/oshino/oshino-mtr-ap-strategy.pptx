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49A3A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371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49A3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FUJI AREA BUSINESS STRATEGY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14400" y="192024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富士エリア事業 全体構想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914400" y="297180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6DEE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MTR × AP ― 役割分担と展開戦略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914400" y="4160520"/>
            <a:ext cx="3291840" cy="1371600"/>
          </a:xfrm>
          <a:prstGeom prst="rect">
            <a:avLst/>
          </a:prstGeom>
          <a:solidFill>
            <a:srgbClr val="2E5C8A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4160520"/>
            <a:ext cx="64008" cy="1371600"/>
          </a:xfrm>
          <a:prstGeom prst="rect">
            <a:avLst/>
          </a:prstGeom>
          <a:solidFill>
            <a:srgbClr val="C49A3A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431596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VILLA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143000" y="48006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7D2E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体験ビレッジ（AP保有・運営）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26280" y="4160520"/>
            <a:ext cx="3291840" cy="1371600"/>
          </a:xfrm>
          <a:prstGeom prst="rect">
            <a:avLst/>
          </a:prstGeom>
          <a:solidFill>
            <a:srgbClr val="2E5C8A"/>
          </a:solidFill>
          <a:ln/>
        </p:spPr>
      </p:sp>
      <p:sp>
        <p:nvSpPr>
          <p:cNvPr id="11" name="Shape 9"/>
          <p:cNvSpPr/>
          <p:nvPr/>
        </p:nvSpPr>
        <p:spPr>
          <a:xfrm>
            <a:off x="4526280" y="4160520"/>
            <a:ext cx="64008" cy="1371600"/>
          </a:xfrm>
          <a:prstGeom prst="rect">
            <a:avLst/>
          </a:prstGeom>
          <a:solidFill>
            <a:srgbClr val="C49A3A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431596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民泊・不動産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754880" y="48006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7D2E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小規模物件（MTR保有）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38160" y="4160520"/>
            <a:ext cx="3291840" cy="1371600"/>
          </a:xfrm>
          <a:prstGeom prst="rect">
            <a:avLst/>
          </a:prstGeom>
          <a:solidFill>
            <a:srgbClr val="2E5C8A"/>
          </a:solidFill>
          <a:ln/>
        </p:spPr>
      </p:sp>
      <p:sp>
        <p:nvSpPr>
          <p:cNvPr id="15" name="Shape 13"/>
          <p:cNvSpPr/>
          <p:nvPr/>
        </p:nvSpPr>
        <p:spPr>
          <a:xfrm>
            <a:off x="8138160" y="4160520"/>
            <a:ext cx="64008" cy="1371600"/>
          </a:xfrm>
          <a:prstGeom prst="rect">
            <a:avLst/>
          </a:prstGeom>
          <a:solidFill>
            <a:srgbClr val="C49A3A"/>
          </a:solidFill>
          <a:ln/>
        </p:spPr>
      </p:sp>
      <p:sp>
        <p:nvSpPr>
          <p:cNvPr id="16" name="Text 14"/>
          <p:cNvSpPr/>
          <p:nvPr/>
        </p:nvSpPr>
        <p:spPr>
          <a:xfrm>
            <a:off x="8366760" y="431596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飲食ドミナント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366760" y="48006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7D2E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忍野・河口湖で多店舗展開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914400" y="59436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AP Holdings Inc. (東証 3175) ／ 株式会社MTRインベストメント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" y="626364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7A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2026年6月 ｜ Draft v1.0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49A3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EXECUTIVE SUMMARY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3A5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要するに：資産はMTR、運営はAP。役割を分けて連携する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49240" cy="1051560"/>
          </a:xfrm>
          <a:prstGeom prst="rect">
            <a:avLst/>
          </a:prstGeom>
          <a:solidFill>
            <a:srgbClr val="EAF0F7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691640"/>
            <a:ext cx="82296" cy="10515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85623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MTRインベストメント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25856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不動産を購入・保有する「資産サイド」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02375" y="1691640"/>
            <a:ext cx="5349240" cy="1051560"/>
          </a:xfrm>
          <a:prstGeom prst="rect">
            <a:avLst/>
          </a:prstGeom>
          <a:solidFill>
            <a:srgbClr val="F7F1E2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02375" y="1691640"/>
            <a:ext cx="82296" cy="1051560"/>
          </a:xfrm>
          <a:prstGeom prst="rect">
            <a:avLst/>
          </a:prstGeom>
          <a:solidFill>
            <a:srgbClr val="C49A3A"/>
          </a:solidFill>
          <a:ln/>
        </p:spPr>
      </p:sp>
      <p:sp>
        <p:nvSpPr>
          <p:cNvPr id="10" name="Text 8"/>
          <p:cNvSpPr/>
          <p:nvPr/>
        </p:nvSpPr>
        <p:spPr>
          <a:xfrm>
            <a:off x="6476695" y="185623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A6A1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AP Holdings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76695" y="225856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VILLA・飲食を運営する「事業サイド」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38648" y="198424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7D6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連携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063240"/>
            <a:ext cx="2522144" cy="141732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227832"/>
            <a:ext cx="21563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49A3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22960" y="3630168"/>
            <a:ext cx="2156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3A5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大箱はAPが保有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22960" y="3977640"/>
            <a:ext cx="2156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VILLAは投資が大きいのでAP自身が取得し、保有も運営も自社で完結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3436544" y="3063240"/>
            <a:ext cx="2522144" cy="141732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18" name="Text 16"/>
          <p:cNvSpPr/>
          <p:nvPr/>
        </p:nvSpPr>
        <p:spPr>
          <a:xfrm>
            <a:off x="3619424" y="3227832"/>
            <a:ext cx="21563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49A3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02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619424" y="3630168"/>
            <a:ext cx="2156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3A5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小箱はMTRが保有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3619424" y="3977640"/>
            <a:ext cx="2156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小規模な民泊・飲食店舗の不動産はMTRが取得し、運営側へ賃貸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6233008" y="3063240"/>
            <a:ext cx="2522144" cy="141732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2" name="Text 20"/>
          <p:cNvSpPr/>
          <p:nvPr/>
        </p:nvSpPr>
        <p:spPr>
          <a:xfrm>
            <a:off x="6415888" y="3227832"/>
            <a:ext cx="21563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49A3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03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415888" y="3630168"/>
            <a:ext cx="2156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3A5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相互送客で回遊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415888" y="3977640"/>
            <a:ext cx="2156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VILLA客・飲食店・民泊を富士エリアで束ね、ブランドで送り合う</a:t>
            </a:r>
            <a:endParaRPr lang="en-US" sz="980" dirty="0"/>
          </a:p>
        </p:txBody>
      </p:sp>
      <p:sp>
        <p:nvSpPr>
          <p:cNvPr id="25" name="Shape 23"/>
          <p:cNvSpPr/>
          <p:nvPr/>
        </p:nvSpPr>
        <p:spPr>
          <a:xfrm>
            <a:off x="9029471" y="3063240"/>
            <a:ext cx="2522144" cy="141732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6" name="Text 24"/>
          <p:cNvSpPr/>
          <p:nvPr/>
        </p:nvSpPr>
        <p:spPr>
          <a:xfrm>
            <a:off x="9212351" y="3227832"/>
            <a:ext cx="21563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49A3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04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9212351" y="3630168"/>
            <a:ext cx="2156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3A5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論点はガバナンス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9212351" y="3977640"/>
            <a:ext cx="2156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2社間の賃料は第三者相場で算定し、利益相反の説明責任を担保</a:t>
            </a:r>
            <a:endParaRPr lang="en-US" sz="980" dirty="0"/>
          </a:p>
        </p:txBody>
      </p:sp>
      <p:sp>
        <p:nvSpPr>
          <p:cNvPr id="29" name="Shape 27"/>
          <p:cNvSpPr/>
          <p:nvPr/>
        </p:nvSpPr>
        <p:spPr>
          <a:xfrm>
            <a:off x="640080" y="4892040"/>
            <a:ext cx="10911535" cy="8686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0" name="Text 28"/>
          <p:cNvSpPr/>
          <p:nvPr/>
        </p:nvSpPr>
        <p:spPr>
          <a:xfrm>
            <a:off x="1005840" y="4892040"/>
            <a:ext cx="101800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9A3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結論：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投資規模で「持ち手」を分け、運営はAPに集約。会長（両社代表）の判断で全体最適を取りにいく。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MTR × AP Holdings｜富士エリア事業 全体構想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045433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 / 13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49A3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BUSINESS 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3A5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富士エリアで「泊まる・食べる・体験する」を束ねる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724248" y="2468880"/>
            <a:ext cx="2743200" cy="1371600"/>
          </a:xfrm>
          <a:prstGeom prst="ellipse">
            <a:avLst/>
          </a:prstGeom>
          <a:solidFill>
            <a:srgbClr val="1E3A5F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724248" y="263347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富士エリア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724248" y="30632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D2E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忍野・河口湖・小山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280160" y="4572000"/>
            <a:ext cx="3383280" cy="1371600"/>
          </a:xfrm>
          <a:prstGeom prst="rect">
            <a:avLst/>
          </a:prstGeom>
          <a:solidFill>
            <a:srgbClr val="F7F1E2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508760" y="47548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8A6A1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VILLA（体験ビレッジ）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508760" y="517550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2,500坪・トレーラー15棟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508760" y="554126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7D6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AP保有・運営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095848" y="3840480"/>
            <a:ext cx="-3124048" cy="731520"/>
          </a:xfrm>
          <a:prstGeom prst="line">
            <a:avLst/>
          </a:prstGeom>
          <a:noFill/>
          <a:ln w="15875">
            <a:solidFill>
              <a:srgbClr val="9CA3A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92040" y="4572000"/>
            <a:ext cx="3383280" cy="1371600"/>
          </a:xfrm>
          <a:prstGeom prst="rect">
            <a:avLst/>
          </a:prstGeom>
          <a:solidFill>
            <a:srgbClr val="EAF0F7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120640" y="47548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3A5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小規模民泊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5120640" y="517550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戸建て・区分を取得し運用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120640" y="554126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7D6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MTR保有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95848" y="3840480"/>
            <a:ext cx="487832" cy="731520"/>
          </a:xfrm>
          <a:prstGeom prst="line">
            <a:avLst/>
          </a:prstGeom>
          <a:noFill/>
          <a:ln w="15875">
            <a:solidFill>
              <a:srgbClr val="9CA3A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4572000"/>
            <a:ext cx="3383280" cy="1371600"/>
          </a:xfrm>
          <a:prstGeom prst="rect">
            <a:avLst/>
          </a:prstGeom>
          <a:solidFill>
            <a:srgbClr val="F7F1E2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732520" y="47548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8A6A1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飲食ドミナント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732520" y="517550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富士山パンケーキ＋新規2軒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732520" y="554126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7D6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AP運営／MTR物件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095848" y="3840480"/>
            <a:ext cx="4099712" cy="731520"/>
          </a:xfrm>
          <a:prstGeom prst="line">
            <a:avLst/>
          </a:prstGeom>
          <a:noFill/>
          <a:ln w="15875">
            <a:solidFill>
              <a:srgbClr val="9CA3A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MTR × AP Holdings｜富士エリア事業 全体構想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045433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 / 13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49A3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WHY SPLIT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3A5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なぜ「大箱はAP・小箱はMTR」で分けるのか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49240" cy="640080"/>
          </a:xfrm>
          <a:prstGeom prst="rect">
            <a:avLst/>
          </a:prstGeom>
          <a:solidFill>
            <a:srgbClr val="C49A3A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783080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大箱 → AP が保有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0080" y="2423160"/>
            <a:ext cx="5349240" cy="2743200"/>
          </a:xfrm>
          <a:prstGeom prst="rect">
            <a:avLst/>
          </a:prstGeom>
          <a:solidFill>
            <a:srgbClr val="F7F1E2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65176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A6A1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投資が大きい（VILLA 8億超）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60120" y="2999232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外部に貸す前提だと利回り設計が複雑。自社保有で運営益をまるごと取る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960120" y="352044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A6A1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補助金・中計に載せやすい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60120" y="3867912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AP本体の体験型新業態としてIR・補助金ストーリーに直結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960120" y="438912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A6A1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運営とのズレがない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60120" y="4736592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保有と運営が同じ会社なので意思決定が速い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6202375" y="1783080"/>
            <a:ext cx="5349240" cy="6400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4" name="Text 12"/>
          <p:cNvSpPr/>
          <p:nvPr/>
        </p:nvSpPr>
        <p:spPr>
          <a:xfrm>
            <a:off x="6476695" y="1783080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小箱 → MTR が保有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202375" y="2423160"/>
            <a:ext cx="5349240" cy="2743200"/>
          </a:xfrm>
          <a:prstGeom prst="rect">
            <a:avLst/>
          </a:prstGeom>
          <a:solidFill>
            <a:srgbClr val="EAF0F7"/>
          </a:solidFill>
          <a:ln/>
        </p:spPr>
      </p:sp>
      <p:sp>
        <p:nvSpPr>
          <p:cNvPr id="16" name="Text 14"/>
          <p:cNvSpPr/>
          <p:nvPr/>
        </p:nvSpPr>
        <p:spPr>
          <a:xfrm>
            <a:off x="6522415" y="265176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3A5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1物件が小さく機動的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522415" y="2999232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民泊・飲食店舗は数千万単位。MTRで小回りよく取得・売却できる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6522415" y="352044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3A5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不動産の含み益はMTRに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522415" y="3867912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資産の値上がり・売却益はMTR側に蓄積し、リスクを分散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6522415" y="438912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3A5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APは資産を持たず身軽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522415" y="4736592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APは賃料を払って運営に専念。BSを重くしない</a:t>
            </a:r>
            <a:endParaRPr lang="en-US" sz="1080" dirty="0"/>
          </a:p>
        </p:txBody>
      </p:sp>
      <p:sp>
        <p:nvSpPr>
          <p:cNvPr id="22" name="Text 20"/>
          <p:cNvSpPr/>
          <p:nvPr/>
        </p:nvSpPr>
        <p:spPr>
          <a:xfrm>
            <a:off x="640080" y="544068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49A3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考え方　</a:t>
            </a:r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「重い投資＝運営者が抱える／軽い投資＝資産会社が持って貸す」で、リスクと回収を最適配置する。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MTR × AP Holdings｜富士エリア事業 全体構想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045433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4 / 13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49A3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ROLE OF 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3A5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AP の役割：VILLA を保有・運営し、飲食で面を取る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27168" cy="3291840"/>
          </a:xfrm>
          <a:prstGeom prst="rect">
            <a:avLst/>
          </a:prstGeom>
          <a:solidFill>
            <a:srgbClr val="F4F6F9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828800"/>
            <a:ext cx="5227168" cy="685800"/>
          </a:xfrm>
          <a:prstGeom prst="rect">
            <a:avLst/>
          </a:prstGeom>
          <a:solidFill>
            <a:srgbClr val="C49A3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828800"/>
            <a:ext cx="46785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① VILLA（体験ビレッジ）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2743200"/>
            <a:ext cx="458708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投資が大きいためAP自身が土地・建物を取得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保有も運営も自社で完結（賃借不要）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宿泊・F&amp;B・体験・温浴で複合的に売上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AI/ロボットで省人化し利益率を確保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324448" y="1828800"/>
            <a:ext cx="5227168" cy="3291840"/>
          </a:xfrm>
          <a:prstGeom prst="rect">
            <a:avLst/>
          </a:prstGeom>
          <a:solidFill>
            <a:srgbClr val="F4F6F9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324448" y="1828800"/>
            <a:ext cx="5227168" cy="685800"/>
          </a:xfrm>
          <a:prstGeom prst="rect">
            <a:avLst/>
          </a:prstGeom>
          <a:solidFill>
            <a:srgbClr val="C49A3A"/>
          </a:solidFill>
          <a:ln/>
        </p:spPr>
      </p:sp>
      <p:sp>
        <p:nvSpPr>
          <p:cNvPr id="10" name="Text 8"/>
          <p:cNvSpPr/>
          <p:nvPr/>
        </p:nvSpPr>
        <p:spPr>
          <a:xfrm>
            <a:off x="6598768" y="1828800"/>
            <a:ext cx="46785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② 飲食ドミナント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44488" y="2743200"/>
            <a:ext cx="458708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既存「富士山パンケーキ」を起点に展開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忍野・河口湖エリアに集中出店（ドミナント）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店舗の不動産はMTRから賃借して運営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VILLA・民泊の宿泊客を送客し相乗効果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0080" y="539496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AP は「運営のプロ」として、資産を持ちすぎずに事業価値を最大化する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MTR × AP Holdings｜富士エリア事業 全体構想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045433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5 / 13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49A3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ROLE OF MTR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3A5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MTR の役割：小規模不動産を持ち、運営側へ貸す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27168" cy="3291840"/>
          </a:xfrm>
          <a:prstGeom prst="rect">
            <a:avLst/>
          </a:prstGeom>
          <a:solidFill>
            <a:srgbClr val="F4F6F9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828800"/>
            <a:ext cx="5227168" cy="6858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828800"/>
            <a:ext cx="46785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① 小規模民泊の保有・運用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2743200"/>
            <a:ext cx="458708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戸建て・区分など小規模物件を取得し保有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自社で民泊運営、またはAP/運営者へ賃貸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1件が小さく、機動的に取得・売却できる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不動産の含み益・売却益はMTRに蓄積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324448" y="1828800"/>
            <a:ext cx="5227168" cy="3291840"/>
          </a:xfrm>
          <a:prstGeom prst="rect">
            <a:avLst/>
          </a:prstGeom>
          <a:solidFill>
            <a:srgbClr val="F4F6F9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324448" y="1828800"/>
            <a:ext cx="5227168" cy="6858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0" name="Text 8"/>
          <p:cNvSpPr/>
          <p:nvPr/>
        </p:nvSpPr>
        <p:spPr>
          <a:xfrm>
            <a:off x="6598768" y="1828800"/>
            <a:ext cx="46785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② 飲食店舗の不動産を保有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44488" y="2743200"/>
            <a:ext cx="458708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飲食ドミナント用の店舗物件を取得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AP（飲食運営）へ賃貸し、賃料を得る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立地の良い物件を押さえる「面の確保」役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賃料は第三者相場で算定（後述のガバナンス）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0080" y="539496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MTR は「不動産オーナー」として、資産形成とエリアの面の確保を担う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MTR × AP Holdings｜富士エリア事業 全体構想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045433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6 / 13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49A3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TRANSACTION DESIGN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3A5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2社間の取引：飲食・民泊で賃貸借が発生する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657600" cy="1188720"/>
          </a:xfrm>
          <a:prstGeom prst="rect">
            <a:avLst/>
          </a:prstGeom>
          <a:solidFill>
            <a:srgbClr val="EAF0F7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21945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MTR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26700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飲食店舗・民泊物件を保有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894015" y="2011680"/>
            <a:ext cx="3657600" cy="1188720"/>
          </a:xfrm>
          <a:prstGeom prst="rect">
            <a:avLst/>
          </a:prstGeom>
          <a:solidFill>
            <a:srgbClr val="F7F1E2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894015" y="21945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A6A1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AP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894015" y="26700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店舗・物件を借りて運営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297680" y="2103120"/>
            <a:ext cx="35963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7D6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物件を賃貸 →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480560" y="2514600"/>
            <a:ext cx="3230575" cy="0"/>
          </a:xfrm>
          <a:prstGeom prst="line">
            <a:avLst/>
          </a:prstGeom>
          <a:noFill/>
          <a:ln w="25400">
            <a:solidFill>
              <a:srgbClr val="2E7D6E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4297680" y="2651760"/>
            <a:ext cx="35963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← 賃料を支払い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480560" y="3017520"/>
            <a:ext cx="3230575" cy="0"/>
          </a:xfrm>
          <a:prstGeom prst="line">
            <a:avLst/>
          </a:prstGeom>
          <a:noFill/>
          <a:ln w="25400">
            <a:solidFill>
              <a:srgbClr val="9CA3AF"/>
            </a:solidFill>
            <a:prstDash val="solid"/>
            <a:headEnd type="triangle"/>
          </a:ln>
        </p:spPr>
      </p:sp>
      <p:sp>
        <p:nvSpPr>
          <p:cNvPr id="14" name="Shape 12"/>
          <p:cNvSpPr/>
          <p:nvPr/>
        </p:nvSpPr>
        <p:spPr>
          <a:xfrm>
            <a:off x="640080" y="3657600"/>
            <a:ext cx="10911535" cy="64008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65760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49A3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ポイント　</a:t>
            </a:r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VILLAはAP内で完結するため2社間取引は発生しない。賃貸借が起きるのは飲食店舗と（必要なら）民泊のみ。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572000"/>
            <a:ext cx="3454298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4572000"/>
            <a:ext cx="3454298" cy="73152"/>
          </a:xfrm>
          <a:prstGeom prst="rect">
            <a:avLst/>
          </a:prstGeom>
          <a:solidFill>
            <a:srgbClr val="C49A3A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800600"/>
            <a:ext cx="29970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3A5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第三者相場で算定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68680" y="5193792"/>
            <a:ext cx="29970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近隣の同種物件の賃料を基準にし、社内の都合で決めない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4368698" y="4572000"/>
            <a:ext cx="3454298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68698" y="4572000"/>
            <a:ext cx="3454298" cy="73152"/>
          </a:xfrm>
          <a:prstGeom prst="rect">
            <a:avLst/>
          </a:prstGeom>
          <a:solidFill>
            <a:srgbClr val="C49A3A"/>
          </a:solidFill>
          <a:ln/>
        </p:spPr>
      </p:sp>
      <p:sp>
        <p:nvSpPr>
          <p:cNvPr id="22" name="Text 20"/>
          <p:cNvSpPr/>
          <p:nvPr/>
        </p:nvSpPr>
        <p:spPr>
          <a:xfrm>
            <a:off x="4597298" y="4800600"/>
            <a:ext cx="29970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3A5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契約書を整備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597298" y="5193792"/>
            <a:ext cx="29970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賃貸借契約・期間・更新条件を文書化して残す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8097317" y="4572000"/>
            <a:ext cx="3454298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97317" y="4572000"/>
            <a:ext cx="3454298" cy="73152"/>
          </a:xfrm>
          <a:prstGeom prst="rect">
            <a:avLst/>
          </a:prstGeom>
          <a:solidFill>
            <a:srgbClr val="C49A3A"/>
          </a:solidFill>
          <a:ln/>
        </p:spPr>
      </p:sp>
      <p:sp>
        <p:nvSpPr>
          <p:cNvPr id="26" name="Text 24"/>
          <p:cNvSpPr/>
          <p:nvPr/>
        </p:nvSpPr>
        <p:spPr>
          <a:xfrm>
            <a:off x="8325917" y="4800600"/>
            <a:ext cx="29970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3A5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承認プロセス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8325917" y="5193792"/>
            <a:ext cx="29970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取締役会・監査で関連当事者取引として承認・記録</a:t>
            </a:r>
            <a:endParaRPr lang="en-US" sz="1080" dirty="0"/>
          </a:p>
        </p:txBody>
      </p:sp>
      <p:sp>
        <p:nvSpPr>
          <p:cNvPr id="28" name="Text 26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MTR × AP Holdings｜富士エリア事業 全体構想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045433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7 / 13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49A3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DOMINANT STRATEGY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3A5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飲食ドミナント：既存1号店を起点に河口湖で面を取る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911535" cy="1234440"/>
          </a:xfrm>
          <a:prstGeom prst="rect">
            <a:avLst/>
          </a:prstGeom>
          <a:solidFill>
            <a:srgbClr val="F7F1E2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783080"/>
            <a:ext cx="82296" cy="1234440"/>
          </a:xfrm>
          <a:prstGeom prst="rect">
            <a:avLst/>
          </a:prstGeom>
          <a:solidFill>
            <a:srgbClr val="C49A3A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920240"/>
            <a:ext cx="102714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A6A1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起点｜富士山パンケーキ（河口湖駅 徒歩圏・営業中）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2331720"/>
            <a:ext cx="102714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溶岩窯パンケーキで集客。食べログ3.52／口コミ185件・保存5,288人。72席・駐車場20台、客単価1,000〜1,999円。観光×ファミリー×インバウンドにSNS映えで届く実績店。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3337560"/>
            <a:ext cx="3383280" cy="155448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35204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現在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37947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49A3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1号店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68680" y="42976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富士山パンケーキ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（営業中）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069080" y="4114800"/>
            <a:ext cx="228600" cy="0"/>
          </a:xfrm>
          <a:prstGeom prst="line">
            <a:avLst/>
          </a:prstGeom>
          <a:noFill/>
          <a:ln w="317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343400" y="3337560"/>
            <a:ext cx="3383280" cy="155448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0" y="35204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次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0" y="37947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+2軒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572000" y="42976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河口湖駅近くの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物件候補2軒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772400" y="4114800"/>
            <a:ext cx="228600" cy="0"/>
          </a:xfrm>
          <a:prstGeom prst="line">
            <a:avLst/>
          </a:prstGeom>
          <a:noFill/>
          <a:ln w="317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046720" y="3337560"/>
            <a:ext cx="3383280" cy="155448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19" name="Text 17"/>
          <p:cNvSpPr/>
          <p:nvPr/>
        </p:nvSpPr>
        <p:spPr>
          <a:xfrm>
            <a:off x="8275320" y="35204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将来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75320" y="37947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7D6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面で展開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8275320" y="42976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忍野・河口湖に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ドミナント集積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0080" y="5120640"/>
            <a:ext cx="10911535" cy="7772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3" name="Text 21"/>
          <p:cNvSpPr/>
          <p:nvPr/>
        </p:nvSpPr>
        <p:spPr>
          <a:xfrm>
            <a:off x="1005840" y="5120640"/>
            <a:ext cx="101800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C49A3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ドミナントの狙い　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エリア集中で認知・仕入・人材を共有し、VILLA／民泊の宿泊客をそのまま飲食へ送客する。物件はMTRが取得して面を押さえる。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MTR × AP Holdings｜富士エリア事業 全体構想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045433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8 / 13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49A3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AREA 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3A5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富士エリア配置：すべて車20分圏に収める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911535" cy="338328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965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CA3A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忍野村・河口湖・小山町（概念図）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645152" y="2770632"/>
            <a:ext cx="219456" cy="219456"/>
          </a:xfrm>
          <a:prstGeom prst="ellipse">
            <a:avLst/>
          </a:prstGeom>
          <a:solidFill>
            <a:srgbClr val="C49A3A"/>
          </a:solidFill>
          <a:ln/>
        </p:spPr>
      </p:sp>
      <p:sp>
        <p:nvSpPr>
          <p:cNvPr id="7" name="Text 5"/>
          <p:cNvSpPr/>
          <p:nvPr/>
        </p:nvSpPr>
        <p:spPr>
          <a:xfrm>
            <a:off x="4937760" y="26974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VILLA 体験ビレッジ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937760" y="29992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6A1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忍野村・AP保有運営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8028432" y="2587752"/>
            <a:ext cx="219456" cy="219456"/>
          </a:xfrm>
          <a:prstGeom prst="ellipse">
            <a:avLst/>
          </a:prstGeom>
          <a:solidFill>
            <a:srgbClr val="C49A3A"/>
          </a:solidFill>
          <a:ln/>
        </p:spPr>
      </p:sp>
      <p:sp>
        <p:nvSpPr>
          <p:cNvPr id="10" name="Text 8"/>
          <p:cNvSpPr/>
          <p:nvPr/>
        </p:nvSpPr>
        <p:spPr>
          <a:xfrm>
            <a:off x="8321040" y="25146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農業体験施設（B棟）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321040" y="28163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6A1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車20分・AP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359152" y="4050792"/>
            <a:ext cx="219456" cy="219456"/>
          </a:xfrm>
          <a:prstGeom prst="ellipse">
            <a:avLst/>
          </a:prstGeom>
          <a:solidFill>
            <a:srgbClr val="2E7D6E"/>
          </a:solidFill>
          <a:ln/>
        </p:spPr>
      </p:sp>
      <p:sp>
        <p:nvSpPr>
          <p:cNvPr id="13" name="Text 11"/>
          <p:cNvSpPr/>
          <p:nvPr/>
        </p:nvSpPr>
        <p:spPr>
          <a:xfrm>
            <a:off x="2651760" y="39776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富士山パンケーキ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651760" y="42793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6A1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河口湖駅・AP運営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285232" y="4187952"/>
            <a:ext cx="219456" cy="219456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6" name="Text 14"/>
          <p:cNvSpPr/>
          <p:nvPr/>
        </p:nvSpPr>
        <p:spPr>
          <a:xfrm>
            <a:off x="5577840" y="41148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飲食 新規2軒（候補）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577840" y="44165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河口湖駅近く・MTR物件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759952" y="4005072"/>
            <a:ext cx="219456" cy="219456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9" name="Text 17"/>
          <p:cNvSpPr/>
          <p:nvPr/>
        </p:nvSpPr>
        <p:spPr>
          <a:xfrm>
            <a:off x="9052560" y="39319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小規模民泊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052560" y="42336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エリア各所・MTR保有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914400" y="4709160"/>
            <a:ext cx="182880" cy="182880"/>
          </a:xfrm>
          <a:prstGeom prst="ellipse">
            <a:avLst/>
          </a:prstGeom>
          <a:solidFill>
            <a:srgbClr val="C49A3A"/>
          </a:solidFill>
          <a:ln/>
        </p:spPr>
      </p:sp>
      <p:sp>
        <p:nvSpPr>
          <p:cNvPr id="22" name="Text 20"/>
          <p:cNvSpPr/>
          <p:nvPr/>
        </p:nvSpPr>
        <p:spPr>
          <a:xfrm>
            <a:off x="1170432" y="46360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AP（保有・運営）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0" y="4709160"/>
            <a:ext cx="182880" cy="18288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4" name="Text 22"/>
          <p:cNvSpPr/>
          <p:nvPr/>
        </p:nvSpPr>
        <p:spPr>
          <a:xfrm>
            <a:off x="4370832" y="46360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MTR（不動産保有）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315200" y="4709160"/>
            <a:ext cx="182880" cy="182880"/>
          </a:xfrm>
          <a:prstGeom prst="ellipse">
            <a:avLst/>
          </a:prstGeom>
          <a:solidFill>
            <a:srgbClr val="2E7D6E"/>
          </a:solidFill>
          <a:ln/>
        </p:spPr>
      </p:sp>
      <p:sp>
        <p:nvSpPr>
          <p:cNvPr id="26" name="Text 24"/>
          <p:cNvSpPr/>
          <p:nvPr/>
        </p:nvSpPr>
        <p:spPr>
          <a:xfrm>
            <a:off x="7571232" y="46360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AP運営×MTR連携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0080" y="534924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東京から車2時間／中央道 富士吉田IC 10分。VILLA・飲食・民泊・観光資源（忍野八海・河口湖・富士急）がすべて10〜20分圏に集積する。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MTR × AP Holdings｜富士エリア事業 全体構想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045433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9 / 13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49A3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CROSS REFERRAL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3A5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相互送客：3事業で客を回し、1人あたり単価を上げる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87088" y="1691640"/>
            <a:ext cx="3017520" cy="1097280"/>
          </a:xfrm>
          <a:prstGeom prst="rect">
            <a:avLst/>
          </a:prstGeom>
          <a:solidFill>
            <a:srgbClr val="F7F1E2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87088" y="18288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A6A1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VILLA 宿泊客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87088" y="225856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6A1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数日滞在・体験消費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295248" y="3749040"/>
            <a:ext cx="3017520" cy="1097280"/>
          </a:xfrm>
          <a:prstGeom prst="rect">
            <a:avLst/>
          </a:prstGeom>
          <a:solidFill>
            <a:srgbClr val="F7F1E2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295248" y="38862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A6A1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飲食ドミナント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95248" y="431596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6A1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日帰り＋宿泊客が来店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878928" y="3749040"/>
            <a:ext cx="3017520" cy="1097280"/>
          </a:xfrm>
          <a:prstGeom prst="rect">
            <a:avLst/>
          </a:prstGeom>
          <a:solidFill>
            <a:srgbClr val="EAF0F7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878928" y="38862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小規模民泊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878928" y="431596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3A5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リピーター・連泊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815688" y="2834640"/>
            <a:ext cx="-1463040" cy="1097280"/>
          </a:xfrm>
          <a:prstGeom prst="line">
            <a:avLst/>
          </a:prstGeom>
          <a:noFill/>
          <a:ln w="25400">
            <a:solidFill>
              <a:srgbClr val="2E7D6E"/>
            </a:solidFill>
            <a:prstDash val="solid"/>
            <a:headEnd type="triangl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376008" y="2834640"/>
            <a:ext cx="1463040" cy="1097280"/>
          </a:xfrm>
          <a:prstGeom prst="line">
            <a:avLst/>
          </a:prstGeom>
          <a:noFill/>
          <a:ln w="25400">
            <a:solidFill>
              <a:srgbClr val="2E7D6E"/>
            </a:solidFill>
            <a:prstDash val="solid"/>
            <a:headEnd type="triangl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312768" y="4297680"/>
            <a:ext cx="3566160" cy="0"/>
          </a:xfrm>
          <a:prstGeom prst="line">
            <a:avLst/>
          </a:prstGeom>
          <a:noFill/>
          <a:ln w="25400">
            <a:solidFill>
              <a:srgbClr val="2E7D6E"/>
            </a:solidFill>
            <a:prstDash val="solid"/>
            <a:headEnd type="triangl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5364328" y="32461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7D6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相互送客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5440680"/>
            <a:ext cx="10911535" cy="68580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5440680"/>
            <a:ext cx="103628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C49A3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効果　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同じ顧客を3事業で受け止めることで、一度の来訪あたりの売上（宿泊＋食事＋体験）を最大化し、広告費をかけずにエリア全体のLTVを高める。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MTR × AP Holdings｜富士エリア事業 全体構想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045433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10 / 13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49A3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FINANCIAL IMAGE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3A5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統合イメージ：誰がどこから出し、どこで儲けるか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CA3A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※ VILLA（A棟＋B棟）は体験ビレッジ構想資料の数値。民泊・飲食は今後の精査対象。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3454298" cy="2286000"/>
          </a:xfrm>
          <a:prstGeom prst="rect">
            <a:avLst/>
          </a:prstGeom>
          <a:solidFill>
            <a:srgbClr val="F7F1E2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920240"/>
            <a:ext cx="3454298" cy="566928"/>
          </a:xfrm>
          <a:prstGeom prst="rect">
            <a:avLst/>
          </a:prstGeom>
          <a:solidFill>
            <a:srgbClr val="C49A3A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920240"/>
            <a:ext cx="308853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AP（VILLA）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2606040"/>
            <a:ext cx="29970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6A1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保有・運営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2971800"/>
            <a:ext cx="29970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投資　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11.4億（補助金4.6億後）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3611880"/>
            <a:ext cx="29970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回収　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EBITDA 3.8億/年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68698" y="1920240"/>
            <a:ext cx="3454298" cy="2286000"/>
          </a:xfrm>
          <a:prstGeom prst="rect">
            <a:avLst/>
          </a:prstGeom>
          <a:solidFill>
            <a:srgbClr val="EAF0F7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68698" y="1920240"/>
            <a:ext cx="3454298" cy="56692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3" name="Text 11"/>
          <p:cNvSpPr/>
          <p:nvPr/>
        </p:nvSpPr>
        <p:spPr>
          <a:xfrm>
            <a:off x="4551578" y="1920240"/>
            <a:ext cx="308853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MTR（民泊）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97298" y="2606040"/>
            <a:ext cx="29970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保有・運用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97298" y="2971800"/>
            <a:ext cx="29970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投資　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小規模・順次取得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97298" y="3611880"/>
            <a:ext cx="29970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回収　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賃料＋運用益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097317" y="1920240"/>
            <a:ext cx="3454298" cy="2286000"/>
          </a:xfrm>
          <a:prstGeom prst="rect">
            <a:avLst/>
          </a:prstGeom>
          <a:solidFill>
            <a:srgbClr val="F4F6F9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097317" y="1920240"/>
            <a:ext cx="3454298" cy="566928"/>
          </a:xfrm>
          <a:prstGeom prst="rect">
            <a:avLst/>
          </a:prstGeom>
          <a:solidFill>
            <a:srgbClr val="2E7D6E"/>
          </a:solidFill>
          <a:ln/>
        </p:spPr>
      </p:sp>
      <p:sp>
        <p:nvSpPr>
          <p:cNvPr id="19" name="Text 17"/>
          <p:cNvSpPr/>
          <p:nvPr/>
        </p:nvSpPr>
        <p:spPr>
          <a:xfrm>
            <a:off x="8280197" y="1920240"/>
            <a:ext cx="308853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MTR×AP（飲食）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325917" y="2606040"/>
            <a:ext cx="29970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6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物件MTR／運営AP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325917" y="2971800"/>
            <a:ext cx="29970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投資　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店舗取得＋出店費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325917" y="3611880"/>
            <a:ext cx="29970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回収　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店舗売上＋賃料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" y="4526280"/>
            <a:ext cx="10911535" cy="13258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4" name="Text 22"/>
          <p:cNvSpPr/>
          <p:nvPr/>
        </p:nvSpPr>
        <p:spPr>
          <a:xfrm>
            <a:off x="1005840" y="4663440"/>
            <a:ext cx="101800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9A3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資金の出し手を整理すると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05840" y="5029200"/>
            <a:ext cx="10180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・大型投資（VILLA）</a:t>
            </a:r>
            <a:pPr indent="0" marL="0">
              <a:buNone/>
            </a:pPr>
            <a:r>
              <a:rPr lang="en-US" sz="1250" dirty="0">
                <a:solidFill>
                  <a:srgbClr val="C7D2E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＝AP本体＋補助金＋借入で組成　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・小型投資（民泊・店舗）</a:t>
            </a:r>
            <a:pPr indent="0" marL="0">
              <a:buNone/>
            </a:pPr>
            <a:r>
              <a:rPr lang="en-US" sz="1250" dirty="0">
                <a:solidFill>
                  <a:srgbClr val="C7D2E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＝MTRが機動的に取得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1005840" y="5440680"/>
            <a:ext cx="101800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→ 重い投資はAP、軽い投資はMTR。会長が両社の資金配分を一元的に判断できる。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MTR × AP Holdings｜富士エリア事業 全体構想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045433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11 / 13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49A3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RISK &amp; GOVERNANCE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3A5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最大の論点は「身内取引」をどう説明するか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911535" cy="960120"/>
          </a:xfrm>
          <a:prstGeom prst="rect">
            <a:avLst/>
          </a:prstGeom>
          <a:solidFill>
            <a:srgbClr val="F7F1E2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737360"/>
            <a:ext cx="82296" cy="960120"/>
          </a:xfrm>
          <a:prstGeom prst="rect">
            <a:avLst/>
          </a:prstGeom>
          <a:solidFill>
            <a:srgbClr val="C49A3A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737360"/>
            <a:ext cx="1027145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8A6A1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構造上の注意　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会長が両社の代表（かつ親族）のため、MTRがAPに貸す賃料を同一人物が決める形になり、外部から利益相反に見えやすい。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971800"/>
            <a:ext cx="2522144" cy="141732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136392"/>
            <a:ext cx="2156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3520440"/>
            <a:ext cx="21563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賃料の第三者算定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22960" y="3904488"/>
            <a:ext cx="2156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近隣相場ベースで賃料を決め、根拠資料を保存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3436544" y="2971800"/>
            <a:ext cx="2522144" cy="141732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12" name="Text 10"/>
          <p:cNvSpPr/>
          <p:nvPr/>
        </p:nvSpPr>
        <p:spPr>
          <a:xfrm>
            <a:off x="3619424" y="3136392"/>
            <a:ext cx="2156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619424" y="3520440"/>
            <a:ext cx="21563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関連当事者取引の承認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619424" y="3904488"/>
            <a:ext cx="2156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取締役会・監査で承認し、議事録に記録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6233008" y="2971800"/>
            <a:ext cx="2522144" cy="141732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16" name="Text 14"/>
          <p:cNvSpPr/>
          <p:nvPr/>
        </p:nvSpPr>
        <p:spPr>
          <a:xfrm>
            <a:off x="6415888" y="3136392"/>
            <a:ext cx="2156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15888" y="3520440"/>
            <a:ext cx="21563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金商法スキーム確認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15888" y="3904488"/>
            <a:ext cx="2156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民泊の出資・利回り保証は専門家レビュー必須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9029471" y="2971800"/>
            <a:ext cx="2522144" cy="141732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0" name="Text 18"/>
          <p:cNvSpPr/>
          <p:nvPr/>
        </p:nvSpPr>
        <p:spPr>
          <a:xfrm>
            <a:off x="9212351" y="3136392"/>
            <a:ext cx="2156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212351" y="3520440"/>
            <a:ext cx="21563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許認可の事前確認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212351" y="3904488"/>
            <a:ext cx="2156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旅館業・飲食店営業・酒類・農地転用などを着工前に</a:t>
            </a:r>
            <a:endParaRPr lang="en-US" sz="980" dirty="0"/>
          </a:p>
        </p:txBody>
      </p:sp>
      <p:sp>
        <p:nvSpPr>
          <p:cNvPr id="23" name="Shape 21"/>
          <p:cNvSpPr/>
          <p:nvPr/>
        </p:nvSpPr>
        <p:spPr>
          <a:xfrm>
            <a:off x="640080" y="4846320"/>
            <a:ext cx="10911535" cy="10058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4" name="Text 22"/>
          <p:cNvSpPr/>
          <p:nvPr/>
        </p:nvSpPr>
        <p:spPr>
          <a:xfrm>
            <a:off x="1005840" y="4846320"/>
            <a:ext cx="101800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C49A3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むしろ強みに　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ここを資料で先に明記しておけば、補助金・銀行・将来の第三者資本に対して「ガバナンスを理解した経営」として信頼を得られる。リスクは潰し方まで見せる。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MTR × AP Holdings｜富士エリア事業 全体構想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045433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12 / 13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49A3A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7772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49A3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NEXT ACTIONS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11430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次のアクション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914400" y="2240280"/>
            <a:ext cx="502920" cy="502920"/>
          </a:xfrm>
          <a:prstGeom prst="ellipse">
            <a:avLst/>
          </a:prstGeom>
          <a:solidFill>
            <a:srgbClr val="C49A3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45920" y="2194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VILLA取得の意思決定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45920" y="2532888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D2E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AP本体での土地・建物取得を機関決定（補助金前提の資金計画と並走）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0424160" y="2258568"/>
            <a:ext cx="1143000" cy="38404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10424160" y="225856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CRITICAL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914400" y="2990088"/>
            <a:ext cx="502920" cy="502920"/>
          </a:xfrm>
          <a:prstGeom prst="ellipse">
            <a:avLst/>
          </a:prstGeom>
          <a:solidFill>
            <a:srgbClr val="C49A3A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29900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645920" y="294436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飲食2軒の物件精査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45920" y="3282696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D2E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河口湖駅近くの候補2軒をMTRで取得判断。賃料・出店費を試算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0424160" y="3008376"/>
            <a:ext cx="1143000" cy="384048"/>
          </a:xfrm>
          <a:prstGeom prst="rect">
            <a:avLst/>
          </a:prstGeom>
          <a:solidFill>
            <a:srgbClr val="C49A3A"/>
          </a:solidFill>
          <a:ln/>
        </p:spPr>
      </p:sp>
      <p:sp>
        <p:nvSpPr>
          <p:cNvPr id="16" name="Text 14"/>
          <p:cNvSpPr/>
          <p:nvPr/>
        </p:nvSpPr>
        <p:spPr>
          <a:xfrm>
            <a:off x="10424160" y="3008376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HIGH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14400" y="3739896"/>
            <a:ext cx="502920" cy="502920"/>
          </a:xfrm>
          <a:prstGeom prst="ellipse">
            <a:avLst/>
          </a:prstGeom>
          <a:solidFill>
            <a:srgbClr val="C49A3A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37398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645920" y="3694176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賃料・取引ルール整備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645920" y="4032504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D2E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2社間の賃料算定方針と承認プロセスを文書化（ガバナンス）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10424160" y="3758184"/>
            <a:ext cx="1143000" cy="384048"/>
          </a:xfrm>
          <a:prstGeom prst="rect">
            <a:avLst/>
          </a:prstGeom>
          <a:solidFill>
            <a:srgbClr val="C49A3A"/>
          </a:solidFill>
          <a:ln/>
        </p:spPr>
      </p:sp>
      <p:sp>
        <p:nvSpPr>
          <p:cNvPr id="22" name="Text 20"/>
          <p:cNvSpPr/>
          <p:nvPr/>
        </p:nvSpPr>
        <p:spPr>
          <a:xfrm>
            <a:off x="10424160" y="3758184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HIGH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914400" y="4489704"/>
            <a:ext cx="502920" cy="502920"/>
          </a:xfrm>
          <a:prstGeom prst="ellipse">
            <a:avLst/>
          </a:prstGeom>
          <a:solidFill>
            <a:srgbClr val="C49A3A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" y="44897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645920" y="4443984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金商法・許認可診断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645920" y="4782312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D2E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民泊の出資スキームと各種許認可を専門家に事前確認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10424160" y="4507992"/>
            <a:ext cx="1143000" cy="384048"/>
          </a:xfrm>
          <a:prstGeom prst="rect">
            <a:avLst/>
          </a:prstGeom>
          <a:solidFill>
            <a:srgbClr val="C49A3A"/>
          </a:solidFill>
          <a:ln/>
        </p:spPr>
      </p:sp>
      <p:sp>
        <p:nvSpPr>
          <p:cNvPr id="28" name="Text 26"/>
          <p:cNvSpPr/>
          <p:nvPr/>
        </p:nvSpPr>
        <p:spPr>
          <a:xfrm>
            <a:off x="10424160" y="4507992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HIGH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914400" y="5239512"/>
            <a:ext cx="502920" cy="502920"/>
          </a:xfrm>
          <a:prstGeom prst="ellipse">
            <a:avLst/>
          </a:prstGeom>
          <a:solidFill>
            <a:srgbClr val="C49A3A"/>
          </a:solidFill>
          <a:ln/>
        </p:spPr>
      </p:sp>
      <p:sp>
        <p:nvSpPr>
          <p:cNvPr id="30" name="Text 28"/>
          <p:cNvSpPr/>
          <p:nvPr/>
        </p:nvSpPr>
        <p:spPr>
          <a:xfrm>
            <a:off x="914400" y="52395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5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645920" y="519379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統合収支の精緻化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645920" y="553212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D2E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VILLA・民泊・飲食を合算した15年キャッシュフローを作成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10424160" y="5257800"/>
            <a:ext cx="1143000" cy="384048"/>
          </a:xfrm>
          <a:prstGeom prst="rect">
            <a:avLst/>
          </a:prstGeom>
          <a:solidFill>
            <a:srgbClr val="5A6B7E"/>
          </a:solidFill>
          <a:ln/>
        </p:spPr>
      </p:sp>
      <p:sp>
        <p:nvSpPr>
          <p:cNvPr id="34" name="Text 32"/>
          <p:cNvSpPr/>
          <p:nvPr/>
        </p:nvSpPr>
        <p:spPr>
          <a:xfrm>
            <a:off x="10424160" y="525780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MED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914400" y="6172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CA3A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※ CRITICAL（VILLA取得）は他の判断の前提。まずここを会長と固める。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富士エリア事業 全体構想</dc:title>
  <dc:subject>PptxGenJS Presentation</dc:subject>
  <dc:creator>MTR / AP Holdings</dc:creator>
  <cp:lastModifiedBy>MTR / AP Holdings</cp:lastModifiedBy>
  <cp:revision>1</cp:revision>
  <dcterms:created xsi:type="dcterms:W3CDTF">2026-05-31T21:24:37Z</dcterms:created>
  <dcterms:modified xsi:type="dcterms:W3CDTF">2026-05-31T21:24:37Z</dcterms:modified>
</cp:coreProperties>
</file>