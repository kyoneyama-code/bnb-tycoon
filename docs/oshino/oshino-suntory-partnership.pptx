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0F5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STRATEGIC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PARTNERSHIP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戦略協業提案書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502920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9319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富士・忍野 体験ビレッジ × サントリー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DD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「水と食と命」 — 哲学が一致するパートナーシップ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Inc.（東証3175）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2026年5月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💧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850392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🌾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🍺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8503920" y="22860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🥃</a:t>
            </a:r>
            <a:endParaRPr lang="en-US" sz="9000" dirty="0"/>
          </a:p>
        </p:txBody>
      </p:sp>
      <p:sp>
        <p:nvSpPr>
          <p:cNvPr id="14" name="Shape 12"/>
          <p:cNvSpPr/>
          <p:nvPr/>
        </p:nvSpPr>
        <p:spPr>
          <a:xfrm>
            <a:off x="6675120" y="4572000"/>
            <a:ext cx="5212080" cy="1645920"/>
          </a:xfrm>
          <a:prstGeom prst="rect">
            <a:avLst/>
          </a:prstGeom>
          <a:solidFill>
            <a:srgbClr val="00308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4663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50292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本資料はサントリー様との協議のみを目的として作成されたものです。第三者への開示はご遠慮ください。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COMPANY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とは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2651760" cy="1280160"/>
          </a:xfrm>
          <a:prstGeom prst="rect">
            <a:avLst/>
          </a:prstGeom>
          <a:solidFill>
            <a:srgbClr val="003087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東証3175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上場区分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280160"/>
          </a:xfrm>
          <a:prstGeom prst="rect">
            <a:avLst/>
          </a:prstGeom>
          <a:solidFill>
            <a:srgbClr val="003087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218億円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連結売上（FY26）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1280160"/>
          </a:xfrm>
          <a:prstGeom prst="rect">
            <a:avLst/>
          </a:prstGeom>
          <a:solidFill>
            <a:srgbClr val="003087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380億円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FY31 売上目標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1234440"/>
            <a:ext cx="2651760" cy="1280160"/>
          </a:xfrm>
          <a:prstGeom prst="rect">
            <a:avLst/>
          </a:prstGeom>
          <a:solidFill>
            <a:srgbClr val="003087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30億円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6968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FY31 営業利益目標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265176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🐔 塚田農場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地鶏・農場系居酒屋チェーン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全国展開・食材の自社完結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7432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743200"/>
            <a:ext cx="265176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🏨 体験型リゾート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2461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富士・忍野 ビレッジを新設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2028年秋〜2029年春 開業予定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7432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743200"/>
            <a:ext cx="265176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🍷 勝沼ワイナリー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2461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自社ワイナリー（業務提携）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施設内ブドウ畑・試飲販売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69680" y="27432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869680" y="2743200"/>
            <a:ext cx="265176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🐑 農業体験施設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61120" y="32461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採卵鶏1万羽・羊200頭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食育プログラム・学校団体対応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富士・忍野 体験ビレッジ 概要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5486400" cy="50292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34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コンセプト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「食べる意味を、取り戻す。」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米・鶏・羊・ワイン ―― すべて自社完結。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「いただきます」の意味を、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大人が子どもに伝える場所。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4592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A棟 忍野リゾート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3931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トレーラー15棟・富士山ビュー・サウナ・プール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64592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434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B棟 農業体験施設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4434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採卵鶏1万羽・地鶏・羊・食育プログラム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164592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37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ターゲットADR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4937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7〜12万円/棟（ファミリー〜企業研修）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164592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40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開業予定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5440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2028年秋〜2029年春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56692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234440"/>
            <a:ext cx="5669280" cy="5029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2344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事業規模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874520"/>
            <a:ext cx="2606040" cy="12344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11.4億円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総投資額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1874520"/>
            <a:ext cx="2606040" cy="12344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1965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8.6億円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96112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年間総売上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291840"/>
            <a:ext cx="2606040" cy="12344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3832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3.8億円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21792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年間EBITDA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0" y="3291840"/>
            <a:ext cx="2606040" cy="12344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33832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3.0年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96112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回収期間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709160"/>
            <a:ext cx="2606040" cy="12344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800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34%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217920" y="54864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統合ROI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61120" y="4709160"/>
            <a:ext cx="2606040" cy="12344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4800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4施設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961120" y="54864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自社完結ブランド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WHY SUNTORY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なぜ、サントリーと組むのか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solidFill>
            <a:srgbClr val="00308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「水と生きる」× 「食べる意味を、取り戻す。」—— 二つの哲学は、同じ場所を目指している。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53035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530352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40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🏢  サントリー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自然の恵みを守る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南アルプス天然水・森の水源保全活動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水育プログラム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全国の子どもたちに水と自然を体験させる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プレミアムな体験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89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白州・山崎蒸留所見学の人気爆発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365760" cy="36576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8463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職人と素材の物語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074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プレモルの麦芽100%・丁寧な製造へのこだわり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532120"/>
            <a:ext cx="365760" cy="36576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5321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SDGs先進企業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760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2030年 水ポジティブ宣言・脱炭素目標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3657600"/>
            <a:ext cx="685800" cy="68580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60720" y="3657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×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537960" y="2240280"/>
            <a:ext cx="530352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2240280"/>
            <a:ext cx="530352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240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🏕  富士・忍野 体験ビレッジ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2788920"/>
            <a:ext cx="365760" cy="36576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27889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命の恵みをいただく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8660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米・鶏・羊・ワインを育てた土地で食べる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29400" y="3474720"/>
            <a:ext cx="365760" cy="36576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86600" y="34747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食育プログラム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86600" y="3703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卵拾い・餌やり・命のありがたみを体験させる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629400" y="4160520"/>
            <a:ext cx="365760" cy="36576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86600" y="41605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プレミアムな滞在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86600" y="4389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富士山ビュー・7〜12万円ADRの非日常体験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629400" y="4846320"/>
            <a:ext cx="365760" cy="36576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50" name="Text 48"/>
          <p:cNvSpPr/>
          <p:nvPr/>
        </p:nvSpPr>
        <p:spPr>
          <a:xfrm>
            <a:off x="662940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86600" y="48463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農場主と食材の物語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086600" y="5074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塚田農場ブランド・産地直結の自社完結F&amp;B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629400" y="5532120"/>
            <a:ext cx="365760" cy="36576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54" name="Text 52"/>
          <p:cNvSpPr/>
          <p:nvPr/>
        </p:nvSpPr>
        <p:spPr>
          <a:xfrm>
            <a:off x="662940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86600" y="55321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SDGs体現施設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086600" y="5760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食育×農業×環境が三位一体のリゾート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COLLABORATION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協業パターン 3案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まずパターンAで接点を作り、パターンCへ発展させる2段階戦略を提案します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3840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3840480" cy="54864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🍺  パターンA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プレモル × 農場BBQ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夕食BBQをプレミアムモルツの公式ペアリング体験として設計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専用タップ設置・地鶏炭火焼きとのセット提案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サントリーPR費協賛でAP HD側の初期コストゼロ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SNS映えコンテンツとして相互拡散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6263640"/>
            <a:ext cx="38404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6327648"/>
            <a:ext cx="3840480" cy="658368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3276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収益インパクト：800〜1,300万円/年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51960" y="1600200"/>
            <a:ext cx="3840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1600200"/>
            <a:ext cx="3840480" cy="5486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🥃  パターンB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白州ウイスキー × 星空ラウンジ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CA8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レセプションに「白州ハイボールラウンジ」を併設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4340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CA8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「白州の森×富士山麓」水と自然のコンセプト一致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43400" y="3291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CA8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テイスティング3種5,000円〜・ペアリングコース10,000円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4340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5CA8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サントリーが内装・什器をスポンサー提供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51960" y="6263640"/>
            <a:ext cx="38404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6327648"/>
            <a:ext cx="3840480" cy="658368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63276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収益インパクト：1,600〜1,800万円/年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1600200"/>
            <a:ext cx="38404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1600200"/>
            <a:ext cx="3840480" cy="5486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💧  パターンC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1828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水育 × 食育 SDGsプログラム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451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サントリー「水育」×このビレッジ「食育」を統合したCSRプログラム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2104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451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サントリー講師と農場主のダブル登壇で法人研修を共同展開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21040" y="3291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451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法人単価 360万→500万円（+140万/回）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2104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B451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・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相互の法人営業ネットワークを活用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9600" y="6263640"/>
            <a:ext cx="3840480" cy="640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6327648"/>
            <a:ext cx="3840480" cy="65836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0" name="Text 38"/>
          <p:cNvSpPr/>
          <p:nvPr/>
        </p:nvSpPr>
        <p:spPr>
          <a:xfrm>
            <a:off x="8321040" y="63276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収益インパクト：3,900万円/年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133088" y="3749040"/>
            <a:ext cx="365760" cy="365760"/>
          </a:xfrm>
          <a:prstGeom prst="rightArrow">
            <a:avLst/>
          </a:prstGeom>
          <a:solidFill>
            <a:srgbClr val="DDDDDD"/>
          </a:solidFill>
          <a:ln/>
        </p:spPr>
      </p:sp>
      <p:sp>
        <p:nvSpPr>
          <p:cNvPr id="42" name="Shape 40"/>
          <p:cNvSpPr/>
          <p:nvPr/>
        </p:nvSpPr>
        <p:spPr>
          <a:xfrm>
            <a:off x="8110728" y="3749040"/>
            <a:ext cx="365760" cy="365760"/>
          </a:xfrm>
          <a:prstGeom prst="rightArrow">
            <a:avLst/>
          </a:prstGeom>
          <a:solidFill>
            <a:srgbClr val="DDDDDD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PATTERN A  ——  まずここから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プレミアムモルツ × 富士山麓 農場BBQ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303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体験イメージ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🍺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828800" y="17830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夕食BBQコースに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プレモル専用タップ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を設置。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富士山を望むプライベートデッキで、地鶏炭火焼きとプレミアムモルツを堪能。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「日本の農場 × 職人のビール」という体験を、国内外のゲストに提供します。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146304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対象コース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神戸牛BBQコース（10,000円/人）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46304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設備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4663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プレモル専用タップ×2基 設置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166360"/>
            <a:ext cx="146304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166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提供形態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5166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インルームBBQデッキで提供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669280"/>
            <a:ext cx="1463040" cy="41148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669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期間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5669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通年（夏季ピーク強化）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5943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188720"/>
            <a:ext cx="594360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🏢  サントリー側のメリット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1737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プレモルの「本格ビール体験」PRの新事例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富士山麓×農場というブランドロケーションの活用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035040" y="2560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インバウンド訴求「Japan Farm BBQ with Premium Beer」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SNS自然拡散（富士山×農場×ビール の圧倒的映え）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35040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HDの飲食ネットワークでのプレモル販路拡大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3931920"/>
            <a:ext cx="5943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3931920"/>
            <a:ext cx="594360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💰  収益インパクト（年間）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4389120"/>
            <a:ext cx="5943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43891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ビール販売粗利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49840" y="438912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約300〜500万円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4690872"/>
            <a:ext cx="5943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469087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PR協賛費（サントリー負担）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49840" y="469087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500〜800万円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4992624"/>
            <a:ext cx="5943600" cy="301752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499262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合計インパクト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49840" y="499262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800〜1,300万円/年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難易度：★★★☆☆（既存BBQコースへの上乗せのみ）  ｜  AP HDの初期投資：ほぼゼロ  ｜  最短3ヶ月でスタート可能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PATTERN B  ——  プレミアム体験の深化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CA8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白州ウイスキー × 富士山麓 星空ラウンジ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303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体験イメージ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🥃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828800" y="17830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レセプションに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「HAKUSHU HIGHBALL LOUNGE」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を併設。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白州の森（山梨県）と富士山麓という「日本の水と自然」コンセプトが完全一致。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ソムリエが案内するジャパニーズウイスキーテイスティングで、滞在価値を一段上へ。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1463040" cy="4114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テイスティング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3種セット 5,000円〜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463040" cy="4114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ペアリングコース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4663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ウイスキー×料理 10,000円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166360"/>
            <a:ext cx="1463040" cy="4114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166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ボトル持帰り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5166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4,000〜12,000円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669280"/>
            <a:ext cx="1463040" cy="4114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669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内装・什器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5669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サントリー提供（スポンサー）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5943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188720"/>
            <a:ext cx="594360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🏢  サントリー側のメリット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1737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白州ブランドの体験型新チャネル（蒸留所以外）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富士山ビュー×ウイスキーの非日常体験の提供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035040" y="2560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インバウンド×ジャパニーズウイスキーの強い需要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0" y="2971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内装スポンサーによる長期ブランド露出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035040" y="3383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富士山麓限定ボトルなど限定商品開発の可能性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3931920"/>
            <a:ext cx="5943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3931920"/>
            <a:ext cx="5943600" cy="45720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💰  収益インパクト（年間）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4389120"/>
            <a:ext cx="5943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438912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テイスティング売上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49840" y="438912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約1,302万円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4690872"/>
            <a:ext cx="59436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469087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スポンサーフィー相当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149840" y="469087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300〜500万円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4992624"/>
            <a:ext cx="5943600" cy="301752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499262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合計インパクト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49840" y="499262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1,600〜1,800万円/年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難易度：★★★★☆（ブランド部門との交渉要）  ｜  サントリー内装スポンサーでAP HD初期コストを最小化  ｜  ADR向上に直結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PATTERN C  ——  最大インパクト・最終目標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451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水育 × 食育  共同SDGsプログラム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「水→土→植物→動物→食卓」の完全サイクルを体験する、日本初の水育×食育 統合CSRプログラム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22402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83080"/>
            <a:ext cx="224028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水を知る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💧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サントリー講師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水源・南アルプス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水育コンテンツ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06040" y="2880360"/>
            <a:ext cx="128016" cy="274320"/>
          </a:xfrm>
          <a:prstGeom prst="rightArrow">
            <a:avLst/>
          </a:prstGeom>
          <a:solidFill>
            <a:srgbClr val="DDDDDD"/>
          </a:solidFill>
          <a:ln/>
        </p:spPr>
      </p:sp>
      <p:sp>
        <p:nvSpPr>
          <p:cNvPr id="16" name="Shape 14"/>
          <p:cNvSpPr/>
          <p:nvPr/>
        </p:nvSpPr>
        <p:spPr>
          <a:xfrm>
            <a:off x="2734056" y="1783080"/>
            <a:ext cx="22402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34056" y="1783080"/>
            <a:ext cx="224028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8" name="Text 16"/>
          <p:cNvSpPr/>
          <p:nvPr/>
        </p:nvSpPr>
        <p:spPr>
          <a:xfrm>
            <a:off x="2734056" y="1783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45536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土を育てる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82696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🌱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2825496" y="32461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農場ガイド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米・野菜の生育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土作りの哲学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74336" y="2880360"/>
            <a:ext cx="128016" cy="274320"/>
          </a:xfrm>
          <a:prstGeom prst="rightArrow">
            <a:avLst/>
          </a:prstGeom>
          <a:solidFill>
            <a:srgbClr val="DDDDDD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783080"/>
            <a:ext cx="22402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02352" y="1783080"/>
            <a:ext cx="224028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1783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13832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命に感謝する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50992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🐔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5193792" y="32461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農場主トーク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採卵・餌やり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「いただきます」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42632" y="2880360"/>
            <a:ext cx="128016" cy="274320"/>
          </a:xfrm>
          <a:prstGeom prst="rightArrow">
            <a:avLst/>
          </a:prstGeom>
          <a:solidFill>
            <a:srgbClr val="DDDDDD"/>
          </a:solidFill>
          <a:ln/>
        </p:spPr>
      </p:sp>
      <p:sp>
        <p:nvSpPr>
          <p:cNvPr id="30" name="Shape 28"/>
          <p:cNvSpPr/>
          <p:nvPr/>
        </p:nvSpPr>
        <p:spPr>
          <a:xfrm>
            <a:off x="7470648" y="1783080"/>
            <a:ext cx="22402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70648" y="1783080"/>
            <a:ext cx="224028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2" name="Text 30"/>
          <p:cNvSpPr/>
          <p:nvPr/>
        </p:nvSpPr>
        <p:spPr>
          <a:xfrm>
            <a:off x="7470648" y="1783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82128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恵みをいただく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19288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🍳</a:t>
            </a:r>
            <a:endParaRPr lang="en-US" sz="4600" dirty="0"/>
          </a:p>
        </p:txBody>
      </p:sp>
      <p:sp>
        <p:nvSpPr>
          <p:cNvPr id="35" name="Text 33"/>
          <p:cNvSpPr/>
          <p:nvPr/>
        </p:nvSpPr>
        <p:spPr>
          <a:xfrm>
            <a:off x="7562088" y="32461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朝食体験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拾った卵・自社米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食の感謝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10928" y="2880360"/>
            <a:ext cx="128016" cy="274320"/>
          </a:xfrm>
          <a:prstGeom prst="rightArrow">
            <a:avLst/>
          </a:prstGeom>
          <a:solidFill>
            <a:srgbClr val="DDDDDD"/>
          </a:solidFill>
          <a:ln/>
        </p:spPr>
      </p:sp>
      <p:sp>
        <p:nvSpPr>
          <p:cNvPr id="37" name="Shape 35"/>
          <p:cNvSpPr/>
          <p:nvPr/>
        </p:nvSpPr>
        <p:spPr>
          <a:xfrm>
            <a:off x="9838944" y="1783080"/>
            <a:ext cx="22402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838944" y="1783080"/>
            <a:ext cx="224028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9" name="Text 37"/>
          <p:cNvSpPr/>
          <p:nvPr/>
        </p:nvSpPr>
        <p:spPr>
          <a:xfrm>
            <a:off x="9838944" y="1783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50424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行動を決める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387584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📝</a:t>
            </a:r>
            <a:endParaRPr lang="en-US" sz="4600" dirty="0"/>
          </a:p>
        </p:txBody>
      </p:sp>
      <p:sp>
        <p:nvSpPr>
          <p:cNvPr id="42" name="Text 40"/>
          <p:cNvSpPr/>
          <p:nvPr/>
        </p:nvSpPr>
        <p:spPr>
          <a:xfrm>
            <a:off x="9930384" y="32461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WS・グループ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SDGsアクション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ESGプラン策定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846320"/>
            <a:ext cx="54864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4846320"/>
            <a:ext cx="548640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🏢  サントリー側のメリット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5349240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水育プログラムの実装フィールドとして活用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5650992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ESGレポートの具体的コンテンツ素材を提供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5952744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HD取引先企業への水育普及・新規接点獲得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26480" y="4846320"/>
            <a:ext cx="54864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26480" y="4846320"/>
            <a:ext cx="548640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💰  収益インパクト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126480" y="5349240"/>
            <a:ext cx="54864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0" y="534924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法人単価UP（360→500万/回）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875520" y="5349240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年+1,400万円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26480" y="5650992"/>
            <a:ext cx="548640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217920" y="565099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サントリー紹介の新規法人（年5社）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875520" y="56509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年+2,500万円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26480" y="5952744"/>
            <a:ext cx="5486400" cy="301752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9" name="Text 57"/>
          <p:cNvSpPr/>
          <p:nvPr/>
        </p:nvSpPr>
        <p:spPr>
          <a:xfrm>
            <a:off x="6217920" y="595274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合計インパクト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875520" y="595274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3,900万円/年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REVENUE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協業全体 収益サマリー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25880"/>
            <a:ext cx="2926080" cy="502920"/>
          </a:xfrm>
          <a:prstGeom prst="rect">
            <a:avLst/>
          </a:prstGeom>
          <a:solidFill>
            <a:srgbClr val="00308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パターン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286000" cy="502920"/>
          </a:xfrm>
          <a:prstGeom prst="rect">
            <a:avLst/>
          </a:prstGeom>
          <a:solidFill>
            <a:srgbClr val="00308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年間収益インパクト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325880"/>
            <a:ext cx="2103120" cy="502920"/>
          </a:xfrm>
          <a:prstGeom prst="rect">
            <a:avLst/>
          </a:prstGeom>
          <a:solidFill>
            <a:srgbClr val="00308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サントリー側コスト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1325880"/>
            <a:ext cx="2103120" cy="502920"/>
          </a:xfrm>
          <a:prstGeom prst="rect">
            <a:avLst/>
          </a:prstGeom>
          <a:solidFill>
            <a:srgbClr val="00308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3258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HD側コスト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1325880"/>
            <a:ext cx="2011680" cy="502920"/>
          </a:xfrm>
          <a:prstGeom prst="rect">
            <a:avLst/>
          </a:prstGeom>
          <a:solidFill>
            <a:srgbClr val="00308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1325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難易度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828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  プレモルBBQ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182880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828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800〜1,300万円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0" y="182880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PR費・タップ設備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89520" y="182880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828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なし（初期コストゼロ）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692640" y="182880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1828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★★★☆☆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2423160"/>
            <a:ext cx="29260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4231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  白州ラウンジ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0" y="2423160"/>
            <a:ext cx="228600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4231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1,600〜1,800万円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0" y="2423160"/>
            <a:ext cx="210312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2423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内装什器スポンサー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89520" y="2423160"/>
            <a:ext cx="210312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2423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スペース提供のみ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692640" y="2423160"/>
            <a:ext cx="20116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38360" y="2423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★★★★☆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3017520"/>
            <a:ext cx="2926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0175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C  水育×食育CSR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0" y="301752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30175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3,900万円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0" y="301752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3017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プログラム開発費（折半）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589520" y="3017520"/>
            <a:ext cx="2103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3017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プログラム設計リソース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692640" y="3017520"/>
            <a:ext cx="20116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38360" y="3017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★★★★★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4320" y="3611880"/>
            <a:ext cx="2926080" cy="594360"/>
          </a:xfrm>
          <a:prstGeom prst="rect">
            <a:avLst/>
          </a:prstGeom>
          <a:solidFill>
            <a:srgbClr val="B8860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A＋B＋C 合計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200400" y="3611880"/>
            <a:ext cx="2286000" cy="594360"/>
          </a:xfrm>
          <a:prstGeom prst="rect">
            <a:avLst/>
          </a:prstGeom>
          <a:solidFill>
            <a:srgbClr val="B8860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最大6,000〜7,000万円/年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86400" y="3611880"/>
            <a:ext cx="2103120" cy="594360"/>
          </a:xfrm>
          <a:prstGeom prst="rect">
            <a:avLst/>
          </a:prstGeom>
          <a:solidFill>
            <a:srgbClr val="B8860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589520" y="3611880"/>
            <a:ext cx="2103120" cy="594360"/>
          </a:xfrm>
          <a:prstGeom prst="rect">
            <a:avLst/>
          </a:prstGeom>
          <a:solidFill>
            <a:srgbClr val="B8860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35240" y="3611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—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692640" y="3611880"/>
            <a:ext cx="2011680" cy="594360"/>
          </a:xfrm>
          <a:prstGeom prst="rect">
            <a:avLst/>
          </a:prstGeom>
          <a:solidFill>
            <a:srgbClr val="B8860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38360" y="3611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段階的に実現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74320" y="4572000"/>
            <a:ext cx="11612880" cy="1645920"/>
          </a:xfrm>
          <a:prstGeom prst="rect">
            <a:avLst/>
          </a:prstGeom>
          <a:solidFill>
            <a:srgbClr val="1C1C1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推奨：2段階アプローチ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57200" y="5074920"/>
            <a:ext cx="3474720" cy="45720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5074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PHASE 1（開業まで）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5577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パターンA＋Bで接点を構築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800〜3,100万円/年のインパクトを先行実現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023360" y="5212080"/>
            <a:ext cx="457200" cy="365760"/>
          </a:xfrm>
          <a:prstGeom prst="rightArrow">
            <a:avLst/>
          </a:prstGeom>
          <a:solidFill>
            <a:srgbClr val="B8860B"/>
          </a:solidFill>
          <a:ln/>
        </p:spPr>
      </p:sp>
      <p:sp>
        <p:nvSpPr>
          <p:cNvPr id="63" name="Shape 61"/>
          <p:cNvSpPr/>
          <p:nvPr/>
        </p:nvSpPr>
        <p:spPr>
          <a:xfrm>
            <a:off x="4572000" y="5074920"/>
            <a:ext cx="3474720" cy="4572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0" y="5074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PHASE 2（開業後）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72000" y="5577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パターンCを加えてフル協業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最大6,000〜7,000万円/年を達成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229600" y="5074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✦  本協業によるAP HD売上へのインパクト：年間最大7,000万円（B棟単体売上の約20%に相当）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次のアクション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25880"/>
            <a:ext cx="731520" cy="7772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258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1325880"/>
            <a:ext cx="1051560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325880"/>
            <a:ext cx="1645920" cy="777240"/>
          </a:xfrm>
          <a:prstGeom prst="rect">
            <a:avLst/>
          </a:prstGeom>
          <a:solidFill>
            <a:srgbClr val="003087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3258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サントリー様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3716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担当部署・意思決定者のご確認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325880"/>
            <a:ext cx="2377440" cy="7772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325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今回のミーティング内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731520" cy="77724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860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05840" y="2286000"/>
            <a:ext cx="1051560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286000"/>
            <a:ext cx="1645920" cy="777240"/>
          </a:xfrm>
          <a:prstGeom prst="rect">
            <a:avLst/>
          </a:prstGeom>
          <a:solidFill>
            <a:srgbClr val="2E6B3E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286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B3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双方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3317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パターンAの試験導入条件の確認（タップ設備・PR費分担）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0" y="2286000"/>
            <a:ext cx="2377440" cy="777240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22860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2026年6月末まで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731520" cy="7772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2461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05840" y="3246120"/>
            <a:ext cx="1051560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246120"/>
            <a:ext cx="1645920" cy="777240"/>
          </a:xfrm>
          <a:prstGeom prst="rect">
            <a:avLst/>
          </a:prstGeom>
          <a:solidFill>
            <a:srgbClr val="1A5CA8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246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A8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双方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32918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パターンBの白州ブランド部門との協議開始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0" y="3246120"/>
            <a:ext cx="2377440" cy="777240"/>
          </a:xfrm>
          <a:prstGeom prst="rect">
            <a:avLst/>
          </a:prstGeom>
          <a:solidFill>
            <a:srgbClr val="1A5CA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3246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2026年7月〜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731520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2062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05840" y="4206240"/>
            <a:ext cx="1051560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4206240"/>
            <a:ext cx="1645920" cy="777240"/>
          </a:xfrm>
          <a:prstGeom prst="rect">
            <a:avLst/>
          </a:prstGeom>
          <a:solidFill>
            <a:srgbClr val="B8860B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4206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双方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42519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基本合意書（LOI）の締結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0" y="4206240"/>
            <a:ext cx="2377440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0" y="4206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2026年8月末まで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5166360"/>
            <a:ext cx="731520" cy="7772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51663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05840" y="5166360"/>
            <a:ext cx="1051560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5840" y="5166360"/>
            <a:ext cx="1645920" cy="777240"/>
          </a:xfrm>
          <a:prstGeom prst="rect">
            <a:avLst/>
          </a:prstGeom>
          <a:solidFill>
            <a:srgbClr val="8B4513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" y="51663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双方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0" y="52120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パターンCの共同プログラム設計開始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144000" y="5166360"/>
            <a:ext cx="2377440" cy="7772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0" y="5166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開業6ヶ月前〜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6400800"/>
            <a:ext cx="11612880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6583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　戦略協業提案書　Confidential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83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ともに、日本の食と水の</a:t>
            </a:r>
            <a:endParaRPr lang="en-US" sz="4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文化を創る。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73152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水育と食育が出会う場所、富士山麓で。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 × SUNTORY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CCE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戦略協業提案書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486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AP Holdings Inc.　経営企画室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2026年5月　Confidential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0" y="320040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🗻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2026-04-27T01:24:32Z</dcterms:created>
  <dcterms:modified xsi:type="dcterms:W3CDTF">2026-04-27T01:24:32Z</dcterms:modified>
</cp:coreProperties>
</file>